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525" r:id="rId2"/>
    <p:sldId id="3710" r:id="rId3"/>
    <p:sldId id="3708" r:id="rId4"/>
    <p:sldId id="3712" r:id="rId5"/>
    <p:sldId id="3711" r:id="rId6"/>
    <p:sldId id="3713" r:id="rId7"/>
    <p:sldId id="3704" r:id="rId8"/>
  </p:sldIdLst>
  <p:sldSz cx="9145588" cy="5145088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935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835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CA1C86-C7B3-4999-8772-B9C032276A75}">
          <p14:sldIdLst>
            <p14:sldId id="525"/>
            <p14:sldId id="3710"/>
            <p14:sldId id="3708"/>
            <p14:sldId id="3712"/>
            <p14:sldId id="3711"/>
            <p14:sldId id="3713"/>
            <p14:sldId id="37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7" userDrawn="1">
          <p15:clr>
            <a:srgbClr val="A4A3A4"/>
          </p15:clr>
        </p15:guide>
        <p15:guide id="2" orient="horz" pos="3072" userDrawn="1">
          <p15:clr>
            <a:srgbClr val="A4A3A4"/>
          </p15:clr>
        </p15:guide>
        <p15:guide id="3" orient="horz" pos="441" userDrawn="1">
          <p15:clr>
            <a:srgbClr val="A4A3A4"/>
          </p15:clr>
        </p15:guide>
        <p15:guide id="4" orient="horz" pos="124" userDrawn="1">
          <p15:clr>
            <a:srgbClr val="A4A3A4"/>
          </p15:clr>
        </p15:guide>
        <p15:guide id="5" pos="4908" userDrawn="1">
          <p15:clr>
            <a:srgbClr val="A4A3A4"/>
          </p15:clr>
        </p15:guide>
        <p15:guide id="6" pos="192" userDrawn="1">
          <p15:clr>
            <a:srgbClr val="A4A3A4"/>
          </p15:clr>
        </p15:guide>
        <p15:guide id="7" pos="5568" userDrawn="1">
          <p15:clr>
            <a:srgbClr val="A4A3A4"/>
          </p15:clr>
        </p15:guide>
        <p15:guide id="8" pos="4830" userDrawn="1">
          <p15:clr>
            <a:srgbClr val="A4A3A4"/>
          </p15:clr>
        </p15:guide>
        <p15:guide id="9" pos="127" userDrawn="1">
          <p15:clr>
            <a:srgbClr val="A4A3A4"/>
          </p15:clr>
        </p15:guide>
        <p15:guide id="10" orient="horz" pos="2999" userDrawn="1">
          <p15:clr>
            <a:srgbClr val="A4A3A4"/>
          </p15:clr>
        </p15:guide>
        <p15:guide id="11" orient="horz" pos="740" userDrawn="1">
          <p15:clr>
            <a:srgbClr val="A4A3A4"/>
          </p15:clr>
        </p15:guide>
        <p15:guide id="12" orient="horz" pos="238" userDrawn="1">
          <p15:clr>
            <a:srgbClr val="A4A3A4"/>
          </p15:clr>
        </p15:guide>
        <p15:guide id="13" pos="4902" userDrawn="1">
          <p15:clr>
            <a:srgbClr val="A4A3A4"/>
          </p15:clr>
        </p15:guide>
        <p15:guide id="14" orient="horz" pos="690" userDrawn="1">
          <p15:clr>
            <a:srgbClr val="A4A3A4"/>
          </p15:clr>
        </p15:guide>
        <p15:guide id="15" orient="horz" pos="1233" userDrawn="1">
          <p15:clr>
            <a:srgbClr val="A4A3A4"/>
          </p15:clr>
        </p15:guide>
        <p15:guide id="16" orient="horz" pos="1532" userDrawn="1">
          <p15:clr>
            <a:srgbClr val="A4A3A4"/>
          </p15:clr>
        </p15:guide>
        <p15:guide id="17" orient="horz" pos="1876" userDrawn="1">
          <p15:clr>
            <a:srgbClr val="A4A3A4"/>
          </p15:clr>
        </p15:guide>
        <p15:guide id="18" orient="horz" pos="2131" userDrawn="1">
          <p15:clr>
            <a:srgbClr val="A4A3A4"/>
          </p15:clr>
        </p15:guide>
        <p15:guide id="19" orient="horz" pos="2430" userDrawn="1">
          <p15:clr>
            <a:srgbClr val="A4A3A4"/>
          </p15:clr>
        </p15:guide>
        <p15:guide id="20" orient="horz" pos="2716" userDrawn="1">
          <p15:clr>
            <a:srgbClr val="A4A3A4"/>
          </p15:clr>
        </p15:guide>
        <p15:guide id="21" pos="11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1D2"/>
    <a:srgbClr val="0000CC"/>
    <a:srgbClr val="FFFFFF"/>
    <a:srgbClr val="FF3300"/>
    <a:srgbClr val="E9F6FB"/>
    <a:srgbClr val="C9E9F5"/>
    <a:srgbClr val="004FA3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05" autoAdjust="0"/>
    <p:restoredTop sz="94958" autoAdjust="0"/>
  </p:normalViewPr>
  <p:slideViewPr>
    <p:cSldViewPr snapToGrid="0" showGuides="1">
      <p:cViewPr varScale="1">
        <p:scale>
          <a:sx n="154" d="100"/>
          <a:sy n="154" d="100"/>
        </p:scale>
        <p:origin x="200" y="240"/>
      </p:cViewPr>
      <p:guideLst>
        <p:guide orient="horz" pos="387"/>
        <p:guide orient="horz" pos="3072"/>
        <p:guide orient="horz" pos="441"/>
        <p:guide orient="horz" pos="124"/>
        <p:guide pos="4908"/>
        <p:guide pos="192"/>
        <p:guide pos="5568"/>
        <p:guide pos="4830"/>
        <p:guide pos="127"/>
        <p:guide orient="horz" pos="2999"/>
        <p:guide orient="horz" pos="740"/>
        <p:guide orient="horz" pos="238"/>
        <p:guide pos="4902"/>
        <p:guide orient="horz" pos="690"/>
        <p:guide orient="horz" pos="1233"/>
        <p:guide orient="horz" pos="1532"/>
        <p:guide orient="horz" pos="1876"/>
        <p:guide orient="horz" pos="2131"/>
        <p:guide orient="horz" pos="2430"/>
        <p:guide orient="horz" pos="2716"/>
        <p:guide pos="119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D20D5-F9DD-4389-A6C8-003AD8986EB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FB6-85F9-4DDA-8646-9184AE5C7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98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3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83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5" b="805"/>
          <a:stretch>
            <a:fillRect/>
          </a:stretch>
        </p:blipFill>
        <p:spPr>
          <a:xfrm>
            <a:off x="-1" y="240"/>
            <a:ext cx="9145589" cy="51448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8972" y="1597945"/>
            <a:ext cx="7269460" cy="947107"/>
          </a:xfrm>
          <a:prstGeom prst="rect">
            <a:avLst/>
          </a:prstGeom>
        </p:spPr>
        <p:txBody>
          <a:bodyPr lIns="68589" tIns="34295" rIns="68589" bIns="34295" anchor="ctr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38972" y="2704526"/>
            <a:ext cx="6859191" cy="452009"/>
          </a:xfrm>
          <a:prstGeom prst="rect">
            <a:avLst/>
          </a:prstGeom>
        </p:spPr>
        <p:txBody>
          <a:bodyPr lIns="68589" tIns="34295" rIns="68589" bIns="34295"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dirty="0"/>
              <a:t>撰写部门及人员</a:t>
            </a:r>
          </a:p>
        </p:txBody>
      </p:sp>
      <p:grpSp>
        <p:nvGrpSpPr>
          <p:cNvPr id="26" name="组合 25"/>
          <p:cNvGrpSpPr/>
          <p:nvPr userDrawn="1"/>
        </p:nvGrpSpPr>
        <p:grpSpPr>
          <a:xfrm rot="5400000">
            <a:off x="-1024601" y="1906572"/>
            <a:ext cx="2236268" cy="222703"/>
            <a:chOff x="11874" y="190005"/>
            <a:chExt cx="12314703" cy="2375065"/>
          </a:xfrm>
        </p:grpSpPr>
        <p:sp>
          <p:nvSpPr>
            <p:cNvPr id="12" name="矩形 11"/>
            <p:cNvSpPr/>
            <p:nvPr userDrawn="1"/>
          </p:nvSpPr>
          <p:spPr>
            <a:xfrm>
              <a:off x="950027" y="190005"/>
              <a:ext cx="11376550" cy="2375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 userDrawn="1"/>
          </p:nvSpPr>
          <p:spPr>
            <a:xfrm>
              <a:off x="11874" y="1989070"/>
              <a:ext cx="576000" cy="57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 userDrawn="1"/>
          </p:nvSpPr>
          <p:spPr>
            <a:xfrm>
              <a:off x="32659" y="190005"/>
              <a:ext cx="1834736" cy="195942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287999" y="1638795"/>
              <a:ext cx="1825809" cy="926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373688" y="4656138"/>
            <a:ext cx="3533775" cy="238125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撰写日期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25" y="382265"/>
            <a:ext cx="1162050" cy="1548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" b="709"/>
          <a:stretch>
            <a:fillRect/>
          </a:stretch>
        </p:blipFill>
        <p:spPr>
          <a:xfrm>
            <a:off x="0" y="240"/>
            <a:ext cx="9145588" cy="5144849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304800" y="608397"/>
            <a:ext cx="2846243" cy="500147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目  录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sz="half" idx="1"/>
          </p:nvPr>
        </p:nvSpPr>
        <p:spPr>
          <a:xfrm>
            <a:off x="1988879" y="1552679"/>
            <a:ext cx="5418160" cy="405125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 marL="0" indent="0">
              <a:buFont typeface="+mj-lt"/>
              <a:buNone/>
              <a:defRPr sz="1600" b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sz="half" idx="12"/>
          </p:nvPr>
        </p:nvSpPr>
        <p:spPr>
          <a:xfrm>
            <a:off x="1988879" y="2027565"/>
            <a:ext cx="5418160" cy="405125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 marL="0" indent="0">
              <a:buFont typeface="+mj-lt"/>
              <a:buNone/>
              <a:defRPr sz="1600" b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2" name="内容占位符 2"/>
          <p:cNvSpPr>
            <a:spLocks noGrp="1"/>
          </p:cNvSpPr>
          <p:nvPr>
            <p:ph sz="half" idx="13"/>
          </p:nvPr>
        </p:nvSpPr>
        <p:spPr>
          <a:xfrm>
            <a:off x="1988879" y="2502450"/>
            <a:ext cx="5418160" cy="405125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 marL="0" indent="0">
              <a:buFont typeface="+mj-lt"/>
              <a:buNone/>
              <a:defRPr sz="1600" b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3" name="内容占位符 2"/>
          <p:cNvSpPr>
            <a:spLocks noGrp="1"/>
          </p:cNvSpPr>
          <p:nvPr>
            <p:ph sz="half" idx="14"/>
          </p:nvPr>
        </p:nvSpPr>
        <p:spPr>
          <a:xfrm>
            <a:off x="1988879" y="2977335"/>
            <a:ext cx="5418160" cy="405125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 marL="0" indent="0">
              <a:buFont typeface="+mj-lt"/>
              <a:buNone/>
              <a:defRPr sz="1600" b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内容占位符 2"/>
          <p:cNvSpPr>
            <a:spLocks noGrp="1"/>
          </p:cNvSpPr>
          <p:nvPr>
            <p:ph sz="half" idx="15"/>
          </p:nvPr>
        </p:nvSpPr>
        <p:spPr>
          <a:xfrm>
            <a:off x="1988879" y="3452221"/>
            <a:ext cx="5418160" cy="405125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 marL="0" indent="0">
              <a:buFont typeface="+mj-lt"/>
              <a:buNone/>
              <a:defRPr sz="1600" b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5" name="内容占位符 2"/>
          <p:cNvSpPr>
            <a:spLocks noGrp="1"/>
          </p:cNvSpPr>
          <p:nvPr>
            <p:ph sz="half" idx="16"/>
          </p:nvPr>
        </p:nvSpPr>
        <p:spPr>
          <a:xfrm>
            <a:off x="1988879" y="3927104"/>
            <a:ext cx="5418160" cy="405125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 marL="0" indent="0">
              <a:buFont typeface="+mj-lt"/>
              <a:buNone/>
              <a:defRPr sz="1600" b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26" name="组合 25"/>
          <p:cNvGrpSpPr/>
          <p:nvPr userDrawn="1"/>
        </p:nvGrpSpPr>
        <p:grpSpPr>
          <a:xfrm rot="5400000">
            <a:off x="-206473" y="677637"/>
            <a:ext cx="612966" cy="219079"/>
            <a:chOff x="11874" y="190005"/>
            <a:chExt cx="5277296" cy="2375092"/>
          </a:xfrm>
        </p:grpSpPr>
        <p:sp>
          <p:nvSpPr>
            <p:cNvPr id="27" name="矩形 26"/>
            <p:cNvSpPr/>
            <p:nvPr userDrawn="1"/>
          </p:nvSpPr>
          <p:spPr>
            <a:xfrm>
              <a:off x="950011" y="190048"/>
              <a:ext cx="4339159" cy="23750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 userDrawn="1"/>
          </p:nvSpPr>
          <p:spPr>
            <a:xfrm>
              <a:off x="11874" y="1989070"/>
              <a:ext cx="576000" cy="57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 userDrawn="1"/>
          </p:nvSpPr>
          <p:spPr>
            <a:xfrm>
              <a:off x="32659" y="190005"/>
              <a:ext cx="1834736" cy="195942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 userDrawn="1"/>
          </p:nvSpPr>
          <p:spPr>
            <a:xfrm>
              <a:off x="287999" y="1638795"/>
              <a:ext cx="1825809" cy="926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244" y="380597"/>
            <a:ext cx="958956" cy="12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" y="374"/>
            <a:ext cx="9144922" cy="5144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00" y="72803"/>
            <a:ext cx="7888070" cy="486150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253980" y="904875"/>
            <a:ext cx="8585565" cy="3751906"/>
          </a:xfrm>
          <a:prstGeom prst="rect">
            <a:avLst/>
          </a:prstGeom>
        </p:spPr>
        <p:txBody>
          <a:bodyPr lIns="68589" tIns="34295" rIns="68589" bIns="34295"/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0" name="组合 9"/>
          <p:cNvGrpSpPr/>
          <p:nvPr userDrawn="1"/>
        </p:nvGrpSpPr>
        <p:grpSpPr>
          <a:xfrm rot="5400000">
            <a:off x="-230382" y="216507"/>
            <a:ext cx="535875" cy="94172"/>
            <a:chOff x="11874" y="190005"/>
            <a:chExt cx="6305553" cy="2375092"/>
          </a:xfrm>
          <a:solidFill>
            <a:schemeClr val="tx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949997" y="190005"/>
              <a:ext cx="5367430" cy="23750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11874" y="1989070"/>
              <a:ext cx="576000" cy="57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 userDrawn="1"/>
          </p:nvSpPr>
          <p:spPr>
            <a:xfrm>
              <a:off x="32659" y="190005"/>
              <a:ext cx="1834736" cy="195942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87999" y="1638795"/>
              <a:ext cx="1825809" cy="9262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244" y="255114"/>
            <a:ext cx="958956" cy="1279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" y="0"/>
            <a:ext cx="9144113" cy="5145088"/>
          </a:xfrm>
          <a:prstGeom prst="rect">
            <a:avLst/>
          </a:prstGeom>
        </p:spPr>
      </p:pic>
      <p:sp>
        <p:nvSpPr>
          <p:cNvPr id="11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253980" y="904875"/>
            <a:ext cx="8585565" cy="3751906"/>
          </a:xfrm>
          <a:prstGeom prst="rect">
            <a:avLst/>
          </a:prstGeom>
        </p:spPr>
        <p:txBody>
          <a:bodyPr lIns="68589" tIns="34295" rIns="68589" bIns="34295"/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244" y="255114"/>
            <a:ext cx="958956" cy="127917"/>
          </a:xfrm>
          <a:prstGeom prst="rect">
            <a:avLst/>
          </a:prstGeom>
        </p:spPr>
      </p:pic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224900" y="72803"/>
            <a:ext cx="7888070" cy="486150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 rot="5400000">
            <a:off x="-230382" y="216507"/>
            <a:ext cx="535875" cy="94172"/>
            <a:chOff x="11874" y="190005"/>
            <a:chExt cx="6305553" cy="2375092"/>
          </a:xfrm>
          <a:solidFill>
            <a:schemeClr val="tx2"/>
          </a:solidFill>
        </p:grpSpPr>
        <p:sp>
          <p:nvSpPr>
            <p:cNvPr id="20" name="矩形 19"/>
            <p:cNvSpPr/>
            <p:nvPr userDrawn="1"/>
          </p:nvSpPr>
          <p:spPr>
            <a:xfrm>
              <a:off x="949997" y="190005"/>
              <a:ext cx="5367430" cy="23750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 userDrawn="1"/>
          </p:nvSpPr>
          <p:spPr>
            <a:xfrm>
              <a:off x="11874" y="1989070"/>
              <a:ext cx="576000" cy="57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 userDrawn="1"/>
          </p:nvSpPr>
          <p:spPr>
            <a:xfrm>
              <a:off x="32659" y="190005"/>
              <a:ext cx="1834736" cy="195942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287999" y="1638795"/>
              <a:ext cx="1825809" cy="9262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" y="374"/>
            <a:ext cx="9144922" cy="5144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00" y="74672"/>
            <a:ext cx="7888070" cy="486150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253980" y="904875"/>
            <a:ext cx="8585565" cy="3751906"/>
          </a:xfrm>
          <a:prstGeom prst="rect">
            <a:avLst/>
          </a:prstGeom>
        </p:spPr>
        <p:txBody>
          <a:bodyPr lIns="68589" tIns="34295" rIns="68589" bIns="34295"/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0" name="组合 9"/>
          <p:cNvGrpSpPr/>
          <p:nvPr userDrawn="1"/>
        </p:nvGrpSpPr>
        <p:grpSpPr>
          <a:xfrm rot="5400000">
            <a:off x="-230382" y="218376"/>
            <a:ext cx="535875" cy="94172"/>
            <a:chOff x="11874" y="190005"/>
            <a:chExt cx="6305553" cy="2375092"/>
          </a:xfrm>
          <a:solidFill>
            <a:schemeClr val="tx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949997" y="190005"/>
              <a:ext cx="5367430" cy="23750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11874" y="1989070"/>
              <a:ext cx="576000" cy="57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 userDrawn="1"/>
          </p:nvSpPr>
          <p:spPr>
            <a:xfrm>
              <a:off x="32659" y="190005"/>
              <a:ext cx="1834736" cy="195942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87999" y="1638795"/>
              <a:ext cx="1825809" cy="9262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719" y="4604946"/>
            <a:ext cx="958956" cy="1279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" y="0"/>
            <a:ext cx="9144113" cy="5145088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224900" y="74672"/>
            <a:ext cx="7888070" cy="486150"/>
          </a:xfrm>
          <a:prstGeom prst="rect">
            <a:avLst/>
          </a:prstGeom>
        </p:spPr>
        <p:txBody>
          <a:bodyPr lIns="68589" tIns="34295" rIns="68589" bIns="34295" anchor="b"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0" name="组合 19"/>
          <p:cNvGrpSpPr/>
          <p:nvPr userDrawn="1"/>
        </p:nvGrpSpPr>
        <p:grpSpPr>
          <a:xfrm rot="5400000">
            <a:off x="-230382" y="218376"/>
            <a:ext cx="535875" cy="94172"/>
            <a:chOff x="11874" y="190005"/>
            <a:chExt cx="6305553" cy="2375092"/>
          </a:xfrm>
          <a:solidFill>
            <a:schemeClr val="tx2"/>
          </a:solidFill>
        </p:grpSpPr>
        <p:sp>
          <p:nvSpPr>
            <p:cNvPr id="21" name="矩形 20"/>
            <p:cNvSpPr/>
            <p:nvPr userDrawn="1"/>
          </p:nvSpPr>
          <p:spPr>
            <a:xfrm>
              <a:off x="949997" y="190005"/>
              <a:ext cx="5367430" cy="23750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 userDrawn="1"/>
          </p:nvSpPr>
          <p:spPr>
            <a:xfrm>
              <a:off x="11874" y="1989070"/>
              <a:ext cx="576000" cy="576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 userDrawn="1"/>
          </p:nvSpPr>
          <p:spPr>
            <a:xfrm>
              <a:off x="32659" y="190005"/>
              <a:ext cx="1834736" cy="195942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287999" y="1638795"/>
              <a:ext cx="1825809" cy="9262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253980" y="904875"/>
            <a:ext cx="8585565" cy="3751906"/>
          </a:xfrm>
          <a:prstGeom prst="rect">
            <a:avLst/>
          </a:prstGeom>
        </p:spPr>
        <p:txBody>
          <a:bodyPr lIns="68589" tIns="34295" rIns="68589" bIns="34295"/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719" y="4604946"/>
            <a:ext cx="958956" cy="1279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759" y="4768735"/>
            <a:ext cx="2057757" cy="273928"/>
          </a:xfrm>
          <a:prstGeom prst="rect">
            <a:avLst/>
          </a:prstGeom>
        </p:spPr>
        <p:txBody>
          <a:bodyPr lIns="68589" tIns="34295" rIns="68589" bIns="34295"/>
          <a:lstStyle/>
          <a:p>
            <a:fld id="{1224680B-AA8F-4AAD-A239-FEBD1BD5C9F3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9476" y="4768735"/>
            <a:ext cx="3086636" cy="273928"/>
          </a:xfrm>
          <a:prstGeom prst="rect">
            <a:avLst/>
          </a:prstGeom>
        </p:spPr>
        <p:txBody>
          <a:bodyPr lIns="68589" tIns="34295" rIns="68589" bIns="34295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9072" y="4768735"/>
            <a:ext cx="2057757" cy="273928"/>
          </a:xfrm>
          <a:prstGeom prst="rect">
            <a:avLst/>
          </a:prstGeom>
        </p:spPr>
        <p:txBody>
          <a:bodyPr lIns="68589" tIns="34295" rIns="68589" bIns="34295"/>
          <a:lstStyle/>
          <a:p>
            <a:fld id="{00121F5B-AABD-42C7-861D-D9A43CC024B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5145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63" y="194173"/>
            <a:ext cx="8130666" cy="45745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548785" y="1319109"/>
            <a:ext cx="7345446" cy="623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4000" b="1" kern="1200" dirty="0"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6843020" y="3869089"/>
            <a:ext cx="2016798" cy="79233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319109"/>
            <a:ext cx="107523" cy="62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43" y="123516"/>
            <a:ext cx="7562153" cy="470949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123516"/>
            <a:ext cx="107523" cy="47094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8025" y="1625123"/>
            <a:ext cx="7922102" cy="134465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D4.5</a:t>
            </a:r>
            <a:br>
              <a:rPr lang="en-US" altLang="zh-CN" sz="2800" dirty="0"/>
            </a:br>
            <a:r>
              <a:rPr lang="en-US" altLang="zh-CN" sz="2800" dirty="0"/>
              <a:t>AI</a:t>
            </a:r>
            <a:r>
              <a:rPr lang="zh-CN" altLang="en-US" sz="2800" dirty="0"/>
              <a:t>赋能制造系统，提升数据分析，故障维修效率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84D3A2-4BEE-EB97-55FE-625F3ADB6D56}"/>
              </a:ext>
            </a:extLst>
          </p:cNvPr>
          <p:cNvSpPr txBox="1"/>
          <p:nvPr/>
        </p:nvSpPr>
        <p:spPr>
          <a:xfrm>
            <a:off x="7188819" y="4163122"/>
            <a:ext cx="1360450" cy="53835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苏颂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en-US" altLang="zh-CN" sz="1200" b="1" dirty="0">
                <a:solidFill>
                  <a:schemeClr val="bg1"/>
                </a:solidFill>
                <a:latin typeface="+mn-ea"/>
              </a:rPr>
              <a:t>2026</a:t>
            </a: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年</a:t>
            </a:r>
            <a:r>
              <a:rPr lang="en-US" altLang="zh-CN" sz="1200" b="1" dirty="0">
                <a:solidFill>
                  <a:schemeClr val="bg1"/>
                </a:solidFill>
                <a:latin typeface="+mn-ea"/>
              </a:rPr>
              <a:t>5</a:t>
            </a:r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月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F4341F8B-B6D6-35C8-189B-4B20699CF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28" y="2969776"/>
            <a:ext cx="6859191" cy="452009"/>
          </a:xfrm>
        </p:spPr>
        <p:txBody>
          <a:bodyPr/>
          <a:lstStyle/>
          <a:p>
            <a:r>
              <a:rPr lang="en-US" altLang="zh-CN" dirty="0"/>
              <a:t>5000</a:t>
            </a:r>
            <a:r>
              <a:rPr lang="zh-CN" altLang="en-US" dirty="0"/>
              <a:t>制造调度中心</a:t>
            </a:r>
            <a:r>
              <a:rPr lang="en-US" altLang="zh-CN" dirty="0"/>
              <a:t>-DIAG</a:t>
            </a:r>
            <a:r>
              <a:rPr lang="zh-CN" altLang="en-US" dirty="0"/>
              <a:t>工程部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577FD-0227-6E41-AAEA-B99257BF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内容描述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068AFF0-6089-DBBB-3BD1-5EC7D72B9324}"/>
              </a:ext>
            </a:extLst>
          </p:cNvPr>
          <p:cNvSpPr/>
          <p:nvPr/>
        </p:nvSpPr>
        <p:spPr>
          <a:xfrm>
            <a:off x="7646050" y="914839"/>
            <a:ext cx="526989" cy="526989"/>
          </a:xfrm>
          <a:prstGeom prst="ellipse">
            <a:avLst/>
          </a:prstGeom>
          <a:solidFill>
            <a:srgbClr val="5385C5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6854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03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378637F-0E8D-543A-1689-728F6779E304}"/>
              </a:ext>
            </a:extLst>
          </p:cNvPr>
          <p:cNvSpPr/>
          <p:nvPr/>
        </p:nvSpPr>
        <p:spPr>
          <a:xfrm>
            <a:off x="2098534" y="893407"/>
            <a:ext cx="526989" cy="526989"/>
          </a:xfrm>
          <a:prstGeom prst="ellipse">
            <a:avLst/>
          </a:prstGeom>
          <a:solidFill>
            <a:srgbClr val="00359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6854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01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6949D70-B11C-629F-9E43-AA18FE549989}"/>
              </a:ext>
            </a:extLst>
          </p:cNvPr>
          <p:cNvSpPr txBox="1"/>
          <p:nvPr/>
        </p:nvSpPr>
        <p:spPr>
          <a:xfrm flipH="1">
            <a:off x="318754" y="1098868"/>
            <a:ext cx="175388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91">
              <a:spcAft>
                <a:spcPts val="375"/>
              </a:spcAft>
            </a:pPr>
            <a:r>
              <a:rPr lang="zh-CN" altLang="en-US" sz="1350" b="1" dirty="0">
                <a:solidFill>
                  <a:srgbClr val="00359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智能维修指导</a:t>
            </a:r>
            <a:endParaRPr lang="en-US" altLang="zh-CN" sz="1350" b="1" dirty="0">
              <a:solidFill>
                <a:srgbClr val="003591"/>
              </a:solidFill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6782628-C5F5-EA0D-6926-10FF9B97E618}"/>
              </a:ext>
            </a:extLst>
          </p:cNvPr>
          <p:cNvSpPr/>
          <p:nvPr/>
        </p:nvSpPr>
        <p:spPr>
          <a:xfrm flipH="1">
            <a:off x="318754" y="1456366"/>
            <a:ext cx="2017758" cy="668015"/>
          </a:xfrm>
          <a:prstGeom prst="rect">
            <a:avLst/>
          </a:prstGeom>
          <a:ln>
            <a:noFill/>
          </a:ln>
        </p:spPr>
        <p:txBody>
          <a:bodyPr wrap="square" lIns="68592" tIns="34296" rIns="68592" bIns="34296" anchor="t">
            <a:spAutoFit/>
          </a:bodyPr>
          <a:lstStyle/>
          <a:p>
            <a:pPr>
              <a:lnSpc>
                <a:spcPct val="150000"/>
              </a:lnSpc>
              <a:spcAft>
                <a:spcPts val="375"/>
              </a:spcAft>
            </a:pPr>
            <a:r>
              <a:rPr lang="zh-CN" altLang="en-US" sz="900" dirty="0"/>
              <a:t>通过历史报错与维修数据积累，根据报错日志给出维修建议与排查命令，提高制造问题分析效率。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61A78FC-F320-6C77-F67C-74250A4B0BAB}"/>
              </a:ext>
            </a:extLst>
          </p:cNvPr>
          <p:cNvSpPr/>
          <p:nvPr/>
        </p:nvSpPr>
        <p:spPr>
          <a:xfrm>
            <a:off x="5169309" y="2927767"/>
            <a:ext cx="2856098" cy="865947"/>
          </a:xfrm>
          <a:prstGeom prst="roundRect">
            <a:avLst>
              <a:gd name="adj" fmla="val 50000"/>
            </a:avLst>
          </a:prstGeom>
          <a:solidFill>
            <a:srgbClr val="FE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04DF962-BE16-467C-514F-F4637646310D}"/>
              </a:ext>
            </a:extLst>
          </p:cNvPr>
          <p:cNvSpPr/>
          <p:nvPr/>
        </p:nvSpPr>
        <p:spPr>
          <a:xfrm>
            <a:off x="7646050" y="2805059"/>
            <a:ext cx="526989" cy="526989"/>
          </a:xfrm>
          <a:prstGeom prst="ellipse">
            <a:avLst/>
          </a:prstGeom>
          <a:solidFill>
            <a:srgbClr val="00359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6854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04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A46DFF87-A6E9-1670-89F9-6B13DE5AD0DB}"/>
              </a:ext>
            </a:extLst>
          </p:cNvPr>
          <p:cNvSpPr/>
          <p:nvPr/>
        </p:nvSpPr>
        <p:spPr>
          <a:xfrm>
            <a:off x="2091179" y="2818970"/>
            <a:ext cx="526989" cy="526989"/>
          </a:xfrm>
          <a:prstGeom prst="ellipse">
            <a:avLst/>
          </a:prstGeom>
          <a:solidFill>
            <a:srgbClr val="5385C5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6854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02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cxnSp>
        <p:nvCxnSpPr>
          <p:cNvPr id="52" name="直接连接符 20">
            <a:extLst>
              <a:ext uri="{FF2B5EF4-FFF2-40B4-BE49-F238E27FC236}">
                <a16:creationId xmlns:a16="http://schemas.microsoft.com/office/drawing/2014/main" id="{9E6D5A55-6D9C-6C81-17D5-F2D0F5BC3DDF}"/>
              </a:ext>
            </a:extLst>
          </p:cNvPr>
          <p:cNvCxnSpPr/>
          <p:nvPr/>
        </p:nvCxnSpPr>
        <p:spPr>
          <a:xfrm>
            <a:off x="388216" y="1427743"/>
            <a:ext cx="1925920" cy="0"/>
          </a:xfrm>
          <a:prstGeom prst="line">
            <a:avLst/>
          </a:prstGeom>
          <a:noFill/>
          <a:ln w="19050" cap="rnd" cmpd="sng" algn="ctr">
            <a:solidFill>
              <a:srgbClr val="EFEFEF">
                <a:lumMod val="90000"/>
              </a:srgbClr>
            </a:solidFill>
            <a:prstDash val="solid"/>
            <a:round/>
          </a:ln>
          <a:effectLst/>
        </p:spPr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2745415-C442-5014-99CC-B07BE723BCD4}"/>
              </a:ext>
            </a:extLst>
          </p:cNvPr>
          <p:cNvSpPr txBox="1"/>
          <p:nvPr/>
        </p:nvSpPr>
        <p:spPr>
          <a:xfrm flipH="1">
            <a:off x="5891786" y="1112952"/>
            <a:ext cx="175388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91">
              <a:spcAft>
                <a:spcPts val="375"/>
              </a:spcAft>
            </a:pPr>
            <a:r>
              <a:rPr lang="zh-CN" altLang="en-US" sz="1350" b="1" dirty="0">
                <a:solidFill>
                  <a:srgbClr val="00359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智能预警</a:t>
            </a:r>
            <a:endParaRPr lang="en-US" altLang="zh-CN" sz="1350" b="1" dirty="0">
              <a:solidFill>
                <a:srgbClr val="003591"/>
              </a:solidFill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831F93E-C5C8-B90C-55D0-02E734D41DF8}"/>
              </a:ext>
            </a:extLst>
          </p:cNvPr>
          <p:cNvSpPr/>
          <p:nvPr/>
        </p:nvSpPr>
        <p:spPr>
          <a:xfrm flipH="1">
            <a:off x="5891786" y="1470450"/>
            <a:ext cx="2017758" cy="668015"/>
          </a:xfrm>
          <a:prstGeom prst="rect">
            <a:avLst/>
          </a:prstGeom>
          <a:ln>
            <a:noFill/>
          </a:ln>
        </p:spPr>
        <p:txBody>
          <a:bodyPr wrap="square" lIns="68592" tIns="34296" rIns="68592" bIns="34296" anchor="t">
            <a:spAutoFit/>
          </a:bodyPr>
          <a:lstStyle/>
          <a:p>
            <a:pPr>
              <a:lnSpc>
                <a:spcPct val="150000"/>
              </a:lnSpc>
              <a:spcAft>
                <a:spcPts val="375"/>
              </a:spcAft>
            </a:pPr>
            <a:r>
              <a:rPr lang="zh-CN" altLang="en-US" sz="900" dirty="0"/>
              <a:t>可根据生产订单、生产批次进行数据监控，如内存拦截收敛度、不良部件分布，识别批次问题并给出预警。</a:t>
            </a:r>
          </a:p>
        </p:txBody>
      </p:sp>
      <p:cxnSp>
        <p:nvCxnSpPr>
          <p:cNvPr id="57" name="直接连接符 20">
            <a:extLst>
              <a:ext uri="{FF2B5EF4-FFF2-40B4-BE49-F238E27FC236}">
                <a16:creationId xmlns:a16="http://schemas.microsoft.com/office/drawing/2014/main" id="{F1698AD0-54FF-D11B-A67D-B970D04507BF}"/>
              </a:ext>
            </a:extLst>
          </p:cNvPr>
          <p:cNvCxnSpPr/>
          <p:nvPr/>
        </p:nvCxnSpPr>
        <p:spPr>
          <a:xfrm>
            <a:off x="5961248" y="1441827"/>
            <a:ext cx="1925920" cy="0"/>
          </a:xfrm>
          <a:prstGeom prst="line">
            <a:avLst/>
          </a:prstGeom>
          <a:noFill/>
          <a:ln w="19050" cap="rnd" cmpd="sng" algn="ctr">
            <a:solidFill>
              <a:srgbClr val="EFEFEF">
                <a:lumMod val="90000"/>
              </a:srgbClr>
            </a:solidFill>
            <a:prstDash val="solid"/>
            <a:round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ADC29886-D079-A32D-2896-F6D8697B3AAE}"/>
              </a:ext>
            </a:extLst>
          </p:cNvPr>
          <p:cNvSpPr txBox="1"/>
          <p:nvPr/>
        </p:nvSpPr>
        <p:spPr>
          <a:xfrm flipH="1">
            <a:off x="347801" y="3031866"/>
            <a:ext cx="175388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91">
              <a:spcAft>
                <a:spcPts val="375"/>
              </a:spcAft>
            </a:pPr>
            <a:r>
              <a:rPr lang="zh-CN" altLang="en-US" sz="1350" b="1" dirty="0">
                <a:solidFill>
                  <a:srgbClr val="00359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有效性监控</a:t>
            </a:r>
            <a:endParaRPr lang="en-US" altLang="zh-CN" sz="1350" b="1" dirty="0">
              <a:solidFill>
                <a:srgbClr val="003591"/>
              </a:solidFill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04E231C-EA8D-FD27-6444-80D1549F8631}"/>
              </a:ext>
            </a:extLst>
          </p:cNvPr>
          <p:cNvSpPr/>
          <p:nvPr/>
        </p:nvSpPr>
        <p:spPr>
          <a:xfrm flipH="1">
            <a:off x="347801" y="3389363"/>
            <a:ext cx="2017758" cy="875765"/>
          </a:xfrm>
          <a:prstGeom prst="rect">
            <a:avLst/>
          </a:prstGeom>
          <a:ln>
            <a:noFill/>
          </a:ln>
        </p:spPr>
        <p:txBody>
          <a:bodyPr wrap="square" lIns="68592" tIns="34296" rIns="68592" bIns="34296" anchor="t">
            <a:spAutoFit/>
          </a:bodyPr>
          <a:lstStyle/>
          <a:p>
            <a:pPr>
              <a:lnSpc>
                <a:spcPct val="150000"/>
              </a:lnSpc>
              <a:spcAft>
                <a:spcPts val="375"/>
              </a:spcAft>
            </a:pPr>
            <a:r>
              <a:rPr lang="zh-CN" altLang="en-US" sz="900" dirty="0"/>
              <a:t>建立分析模型，根据故障拦截数据分析出Diag测试项对故障机的拦截有效性，得出优化逻辑，辅助改善Diag程序有效性。</a:t>
            </a:r>
          </a:p>
        </p:txBody>
      </p:sp>
      <p:cxnSp>
        <p:nvCxnSpPr>
          <p:cNvPr id="60" name="直接连接符 20">
            <a:extLst>
              <a:ext uri="{FF2B5EF4-FFF2-40B4-BE49-F238E27FC236}">
                <a16:creationId xmlns:a16="http://schemas.microsoft.com/office/drawing/2014/main" id="{C3B3029B-0815-3199-7BBB-BCA6BE710643}"/>
              </a:ext>
            </a:extLst>
          </p:cNvPr>
          <p:cNvCxnSpPr/>
          <p:nvPr/>
        </p:nvCxnSpPr>
        <p:spPr>
          <a:xfrm>
            <a:off x="417263" y="3360740"/>
            <a:ext cx="1925920" cy="0"/>
          </a:xfrm>
          <a:prstGeom prst="line">
            <a:avLst/>
          </a:prstGeom>
          <a:noFill/>
          <a:ln w="19050" cap="rnd" cmpd="sng" algn="ctr">
            <a:solidFill>
              <a:srgbClr val="EFEFEF">
                <a:lumMod val="90000"/>
              </a:srgbClr>
            </a:solidFill>
            <a:prstDash val="solid"/>
            <a:round/>
          </a:ln>
          <a:effectLst/>
        </p:spPr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3D72E81-1778-DD08-48EC-0B7CE577EAB1}"/>
              </a:ext>
            </a:extLst>
          </p:cNvPr>
          <p:cNvSpPr txBox="1"/>
          <p:nvPr/>
        </p:nvSpPr>
        <p:spPr>
          <a:xfrm flipH="1">
            <a:off x="5891786" y="3003243"/>
            <a:ext cx="175388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91">
              <a:spcAft>
                <a:spcPts val="375"/>
              </a:spcAft>
            </a:pPr>
            <a:r>
              <a:rPr lang="en-US" altLang="zh-CN" sz="1350" b="1" dirty="0">
                <a:solidFill>
                  <a:srgbClr val="00359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AI</a:t>
            </a:r>
            <a:r>
              <a:rPr lang="zh-CN" altLang="en-US" sz="1350" b="1" dirty="0">
                <a:solidFill>
                  <a:srgbClr val="00359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知识库</a:t>
            </a:r>
            <a:endParaRPr lang="en-US" altLang="zh-CN" sz="1350" b="1" dirty="0">
              <a:solidFill>
                <a:srgbClr val="003591"/>
              </a:solidFill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42F4C99-6520-B33B-F43A-8388FC15947E}"/>
              </a:ext>
            </a:extLst>
          </p:cNvPr>
          <p:cNvSpPr/>
          <p:nvPr/>
        </p:nvSpPr>
        <p:spPr>
          <a:xfrm flipH="1">
            <a:off x="5891786" y="3360740"/>
            <a:ext cx="2017758" cy="460266"/>
          </a:xfrm>
          <a:prstGeom prst="rect">
            <a:avLst/>
          </a:prstGeom>
          <a:ln>
            <a:noFill/>
          </a:ln>
        </p:spPr>
        <p:txBody>
          <a:bodyPr wrap="square" lIns="68592" tIns="34296" rIns="68592" bIns="34296" anchor="t">
            <a:spAutoFit/>
          </a:bodyPr>
          <a:lstStyle/>
          <a:p>
            <a:pPr algn="just" defTabSz="685891">
              <a:lnSpc>
                <a:spcPct val="150000"/>
              </a:lnSpc>
              <a:spcAft>
                <a:spcPts val="375"/>
              </a:spcAft>
            </a:pPr>
            <a:r>
              <a:rPr lang="zh-CN" altLang="en-US" sz="900" dirty="0"/>
              <a:t>建立AI历史问题案例分析库与指令查询知识库。</a:t>
            </a:r>
            <a:endParaRPr kumimoji="1" lang="zh-CN" altLang="en-US" sz="900" dirty="0">
              <a:solidFill>
                <a:srgbClr val="383535"/>
              </a:solidFill>
              <a:latin typeface="Alibaba PuHuiTi" panose="00020600040101010101" pitchFamily="18" charset="-122"/>
              <a:ea typeface="Alibaba PuHuiTi" panose="00020600040101010101" pitchFamily="18" charset="-122"/>
              <a:cs typeface="Alibaba PuHuiTi" panose="00020600040101010101" pitchFamily="18" charset="-122"/>
            </a:endParaRPr>
          </a:p>
        </p:txBody>
      </p:sp>
      <p:cxnSp>
        <p:nvCxnSpPr>
          <p:cNvPr id="63" name="直接连接符 20">
            <a:extLst>
              <a:ext uri="{FF2B5EF4-FFF2-40B4-BE49-F238E27FC236}">
                <a16:creationId xmlns:a16="http://schemas.microsoft.com/office/drawing/2014/main" id="{CCC6F9A8-F44A-B2FE-79C3-8275D07919AD}"/>
              </a:ext>
            </a:extLst>
          </p:cNvPr>
          <p:cNvCxnSpPr/>
          <p:nvPr/>
        </p:nvCxnSpPr>
        <p:spPr>
          <a:xfrm>
            <a:off x="5961248" y="3332117"/>
            <a:ext cx="1925920" cy="0"/>
          </a:xfrm>
          <a:prstGeom prst="line">
            <a:avLst/>
          </a:prstGeom>
          <a:noFill/>
          <a:ln w="19050" cap="rnd" cmpd="sng" algn="ctr">
            <a:solidFill>
              <a:srgbClr val="EFEFEF">
                <a:lumMod val="90000"/>
              </a:srgbClr>
            </a:solidFill>
            <a:prstDash val="solid"/>
            <a:round/>
          </a:ln>
          <a:effectLst/>
        </p:spPr>
      </p:cxnSp>
      <p:pic>
        <p:nvPicPr>
          <p:cNvPr id="64" name="图片 63">
            <a:extLst>
              <a:ext uri="{FF2B5EF4-FFF2-40B4-BE49-F238E27FC236}">
                <a16:creationId xmlns:a16="http://schemas.microsoft.com/office/drawing/2014/main" id="{95DEB60F-B649-B6C2-9E05-34B43DDD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419" y="2996716"/>
            <a:ext cx="1262056" cy="1145691"/>
          </a:xfrm>
          <a:prstGeom prst="rect">
            <a:avLst/>
          </a:prstGeom>
        </p:spPr>
      </p:pic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E6B8884A-A288-BEE2-CD32-870E9705CF99}"/>
              </a:ext>
            </a:extLst>
          </p:cNvPr>
          <p:cNvCxnSpPr/>
          <p:nvPr/>
        </p:nvCxnSpPr>
        <p:spPr>
          <a:xfrm>
            <a:off x="430862" y="2572544"/>
            <a:ext cx="7691649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8C17049C-C158-E655-4389-0BDC2C63116E}"/>
              </a:ext>
            </a:extLst>
          </p:cNvPr>
          <p:cNvCxnSpPr>
            <a:cxnSpLocks/>
          </p:cNvCxnSpPr>
          <p:nvPr/>
        </p:nvCxnSpPr>
        <p:spPr>
          <a:xfrm>
            <a:off x="4413268" y="671639"/>
            <a:ext cx="0" cy="393272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0D6816BA-50FB-884E-CC83-F026FE910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554" y="1222453"/>
            <a:ext cx="1669004" cy="1281416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A67F25AC-45E3-5B7F-FECD-DE92592DB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797" y="3838387"/>
            <a:ext cx="2125604" cy="114763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438D7E9E-FEAA-A65B-7BFF-DED011291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5554" y="2842747"/>
            <a:ext cx="1630118" cy="20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7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00E6-DD2A-51E8-D0DA-AFB5D124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FC82D-5E52-E5F7-005E-7EBDE299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时间规划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1B980F-0B2B-9297-4DD2-5CD8433E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50" y="779147"/>
            <a:ext cx="7772400" cy="347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84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2E568-1921-B919-5B3E-4B226A8C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需求功能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17632-1BD6-8D70-2CAF-977B20D1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0011" y="990731"/>
            <a:ext cx="8585565" cy="3398390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sz="1200" b="1" dirty="0">
                <a:latin typeface="DengXian" panose="02010600030101010101" pitchFamily="2" charset="-122"/>
                <a:ea typeface="DengXian" panose="02010600030101010101" pitchFamily="2" charset="-122"/>
              </a:rPr>
              <a:t>一、自动分析报错日志并给出维修建议 </a:t>
            </a:r>
            <a:endParaRPr kumimoji="1" lang="en-US" altLang="zh-CN" sz="12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输入：</a:t>
            </a:r>
            <a:r>
              <a:rPr kumimoji="1"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SIMS</a:t>
            </a: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系统中的测试日志，各项目部件</a:t>
            </a:r>
            <a:r>
              <a:rPr kumimoji="1"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slot</a:t>
            </a: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槽位对应表，</a:t>
            </a:r>
            <a:r>
              <a:rPr kumimoji="1"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MES</a:t>
            </a: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系统中的历史维修记录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输出：分析并归类异常报错，给出格式化处理措施或维修建议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b="1" dirty="0">
                <a:latin typeface="DengXian" panose="02010600030101010101" pitchFamily="2" charset="-122"/>
                <a:ea typeface="DengXian" panose="02010600030101010101" pitchFamily="2" charset="-122"/>
              </a:rPr>
              <a:t>二、建立</a:t>
            </a:r>
            <a:r>
              <a:rPr kumimoji="1" lang="en" altLang="zh-CN" sz="1200" b="1" dirty="0"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kumimoji="1" lang="zh-CN" altLang="en-US" sz="1200" b="1" dirty="0">
                <a:latin typeface="DengXian" panose="02010600030101010101" pitchFamily="2" charset="-122"/>
                <a:ea typeface="DengXian" panose="02010600030101010101" pitchFamily="2" charset="-122"/>
              </a:rPr>
              <a:t>历史问题案例分析库与指令查询知识库</a:t>
            </a:r>
            <a:endParaRPr kumimoji="1" lang="en-US" altLang="zh-CN" sz="12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输入：基于“一“的分析案例积累知识库与排查建议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输出：历史案例浏览与查询页面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b="1" dirty="0">
                <a:latin typeface="DengXian" panose="02010600030101010101" pitchFamily="2" charset="-122"/>
                <a:ea typeface="DengXian" panose="02010600030101010101" pitchFamily="2" charset="-122"/>
              </a:rPr>
              <a:t>三、订单、部件批次异常监控</a:t>
            </a:r>
            <a:endParaRPr kumimoji="1" lang="en-US" altLang="zh-CN" sz="12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 输入：</a:t>
            </a:r>
            <a:r>
              <a:rPr kumimoji="1"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MES</a:t>
            </a: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中历史维修记录中的“涉及部件”、“物料编码”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 输出：汇总输出部件故障率排名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b="1" dirty="0">
                <a:latin typeface="DengXian" panose="02010600030101010101" pitchFamily="2" charset="-122"/>
                <a:ea typeface="DengXian" panose="02010600030101010101" pitchFamily="2" charset="-122"/>
              </a:rPr>
              <a:t>四、</a:t>
            </a:r>
            <a:r>
              <a:rPr kumimoji="1" lang="en-US" altLang="zh-CN" sz="1200" b="1" dirty="0" err="1">
                <a:latin typeface="DengXian" panose="02010600030101010101" pitchFamily="2" charset="-122"/>
                <a:ea typeface="DengXian" panose="02010600030101010101" pitchFamily="2" charset="-122"/>
              </a:rPr>
              <a:t>Diag</a:t>
            </a:r>
            <a:r>
              <a:rPr kumimoji="1" lang="zh-CN" altLang="en-US" sz="1200" b="1" dirty="0">
                <a:latin typeface="DengXian" panose="02010600030101010101" pitchFamily="2" charset="-122"/>
                <a:ea typeface="DengXian" panose="02010600030101010101" pitchFamily="2" charset="-122"/>
              </a:rPr>
              <a:t>拦截有效性智能分析</a:t>
            </a:r>
            <a:endParaRPr kumimoji="1" lang="en-US" altLang="zh-CN" sz="12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 输入：</a:t>
            </a:r>
            <a:r>
              <a:rPr kumimoji="1"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 MES</a:t>
            </a: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中历史维修记录中的“不良现象维度</a:t>
            </a:r>
            <a:r>
              <a:rPr kumimoji="1" lang="en-US" altLang="zh-CN" sz="1200" dirty="0"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”、</a:t>
            </a:r>
            <a:r>
              <a:rPr kumimoji="1" lang="en-US" altLang="zh-CN" sz="1200" dirty="0" err="1">
                <a:latin typeface="DengXian" panose="02010600030101010101" pitchFamily="2" charset="-122"/>
                <a:ea typeface="DengXian" panose="02010600030101010101" pitchFamily="2" charset="-122"/>
              </a:rPr>
              <a:t>Diag</a:t>
            </a: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测试项顺序清单。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1200" dirty="0">
                <a:latin typeface="DengXian" panose="02010600030101010101" pitchFamily="2" charset="-122"/>
                <a:ea typeface="DengXian" panose="02010600030101010101" pitchFamily="2" charset="-122"/>
              </a:rPr>
              <a:t>    输出： 汇总输出测试项拦截率排名</a:t>
            </a:r>
            <a:endParaRPr kumimoji="1"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195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4DD96-87D7-D10B-302A-2EDA9D3E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效果参考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64725B-6217-7580-4C93-4AE48C593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794" y="2650260"/>
            <a:ext cx="4283157" cy="249482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676E8F0-5935-1CE4-7215-09A47E4AE645}"/>
              </a:ext>
            </a:extLst>
          </p:cNvPr>
          <p:cNvSpPr txBox="1"/>
          <p:nvPr/>
        </p:nvSpPr>
        <p:spPr>
          <a:xfrm>
            <a:off x="224900" y="904540"/>
            <a:ext cx="1739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系统日志解析效果展示参考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443F73-B314-84D4-A097-3C9472A60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647" y="528170"/>
            <a:ext cx="6478511" cy="25065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8DD15C-0247-FB47-B4C6-0AA4BDA54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2" y="2296567"/>
            <a:ext cx="5008019" cy="284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9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5D21F-3D99-D012-1B44-F97F42B2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方案参考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4695D8-8DB6-4A27-9E6F-AD5AAF1BE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440" y="558953"/>
            <a:ext cx="3385391" cy="37157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804E0A-FCF3-2487-3DB1-2014EFA16E17}"/>
              </a:ext>
            </a:extLst>
          </p:cNvPr>
          <p:cNvSpPr txBox="1"/>
          <p:nvPr/>
        </p:nvSpPr>
        <p:spPr>
          <a:xfrm>
            <a:off x="224899" y="1384932"/>
            <a:ext cx="1626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https://my.feishu.cn/docx/Vipod74wJovSLKxITExc9bOyncG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A2B673-3918-4451-8FC0-E74AC5A0CB84}"/>
              </a:ext>
            </a:extLst>
          </p:cNvPr>
          <p:cNvSpPr txBox="1"/>
          <p:nvPr/>
        </p:nvSpPr>
        <p:spPr>
          <a:xfrm>
            <a:off x="224899" y="870352"/>
            <a:ext cx="2485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珅哥提供日志解析工具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FDE4AA-6ED1-6777-F75C-971DB6B55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31" y="558953"/>
            <a:ext cx="3313048" cy="296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4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宁畅VI">
      <a:dk1>
        <a:srgbClr val="111111"/>
      </a:dk1>
      <a:lt1>
        <a:sysClr val="window" lastClr="FFFFFF"/>
      </a:lt1>
      <a:dk2>
        <a:srgbClr val="004FA3"/>
      </a:dk2>
      <a:lt2>
        <a:srgbClr val="F4F8FC"/>
      </a:lt2>
      <a:accent1>
        <a:srgbClr val="004FA3"/>
      </a:accent1>
      <a:accent2>
        <a:srgbClr val="00B0F0"/>
      </a:accent2>
      <a:accent3>
        <a:srgbClr val="FFC000"/>
      </a:accent3>
      <a:accent4>
        <a:srgbClr val="CC00FF"/>
      </a:accent4>
      <a:accent5>
        <a:srgbClr val="C00000"/>
      </a:accent5>
      <a:accent6>
        <a:srgbClr val="92D050"/>
      </a:accent6>
      <a:hlink>
        <a:srgbClr val="1068B2"/>
      </a:hlink>
      <a:folHlink>
        <a:srgbClr val="7F7F7F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7165</TotalTime>
  <Words>339</Words>
  <Application>Microsoft Macintosh PowerPoint</Application>
  <PresentationFormat>自定义</PresentationFormat>
  <Paragraphs>36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</vt:lpstr>
      <vt:lpstr>微软雅黑</vt:lpstr>
      <vt:lpstr>Alibaba PuHuiTi</vt:lpstr>
      <vt:lpstr>Arial</vt:lpstr>
      <vt:lpstr>Office 主题​​</vt:lpstr>
      <vt:lpstr>D4.5 AI赋能制造系统，提升数据分析，故障维修效率</vt:lpstr>
      <vt:lpstr>内容描述</vt:lpstr>
      <vt:lpstr>时间规划</vt:lpstr>
      <vt:lpstr>需求功能</vt:lpstr>
      <vt:lpstr>效果参考</vt:lpstr>
      <vt:lpstr>方案参考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DLE</dc:creator>
  <cp:lastModifiedBy>a93849</cp:lastModifiedBy>
  <cp:revision>1022</cp:revision>
  <dcterms:created xsi:type="dcterms:W3CDTF">2024-01-16T06:56:40Z</dcterms:created>
  <dcterms:modified xsi:type="dcterms:W3CDTF">2026-05-21T06:56:41Z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E1122E4DFF31E9C6A828A6658EDFD14C_43</vt:lpwstr>
  </property>
  <property fmtid="{D5CDD505-2E9C-101B-9397-08002B2CF9AE}" pid="3" name="KSOProductBuildVer">
    <vt:lpwstr>2052-6.4.0.8550</vt:lpwstr>
  </property>
</Properties>
</file>